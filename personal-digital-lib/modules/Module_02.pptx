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548640"/>
            <a:ext cx="2011680" cy="2011680"/>
          </a:xfrm>
          <a:prstGeom prst="ellipse">
            <a:avLst/>
          </a:prstGeom>
          <a:solidFill>
            <a:srgbClr val="31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057400"/>
            <a:ext cx="1234440" cy="1234440"/>
          </a:xfrm>
          <a:prstGeom prst="ellipse">
            <a:avLst/>
          </a:prstGeom>
          <a:solidFill>
            <a:srgbClr val="31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3291840"/>
            <a:ext cx="868680" cy="868680"/>
          </a:xfrm>
          <a:prstGeom prst="ellipse">
            <a:avLst/>
          </a:prstGeom>
          <a:solidFill>
            <a:srgbClr val="2AC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49840" y="4114800"/>
            <a:ext cx="640080" cy="640080"/>
          </a:xfrm>
          <a:prstGeom prst="ellipse">
            <a:avLst/>
          </a:prstGeom>
          <a:solidFill>
            <a:srgbClr val="FFA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731520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31CCDD"/>
                </a:solidFill>
                <a:latin typeface="Aptos"/>
              </a:defRPr>
            </a:pPr>
            <a:r>
              <a:t>DATA SCIENCE • 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7498079" cy="1371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3200" b="1">
                <a:solidFill>
                  <a:srgbClr val="F7F9FD"/>
                </a:solidFill>
                <a:latin typeface="Aptos"/>
              </a:defRPr>
            </a:pPr>
            <a:r>
              <a:t>Data Collection &amp; Data 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880360"/>
            <a:ext cx="7040880" cy="7772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700" b="0">
                <a:solidFill>
                  <a:srgbClr val="B9C7DC"/>
                </a:solidFill>
                <a:latin typeface="Aptos"/>
              </a:defRPr>
            </a:pPr>
            <a:r>
              <a:t>Detailed compact notes with concepts, methods, examples and practical reminders.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709160"/>
            <a:ext cx="713232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500" b="1">
                <a:solidFill>
                  <a:srgbClr val="F7F9FD"/>
                </a:solidFill>
                <a:latin typeface="Aptos"/>
              </a:defRPr>
            </a:pPr>
            <a:r>
              <a:t>6 topic slides + cover = 7 slides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31CCDD"/>
                </a:solidFill>
                <a:latin typeface="Aptos"/>
              </a:defRPr>
            </a:pPr>
            <a:r>
              <a:t>MODULE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Data Sources and Collection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31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Primary data is collected directly through surveys, interviews, experiments or sensors.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Secondary data comes from existing databases, reports, public datasets or organizational records.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Common formats: CSV, Excel, JSON, relational tables, logs, images and time-series sensor data.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APIs provide structured access to services; databases support querying large, organized collections.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Check relevance, accuracy, coverage, freshness, cost, access permissions and collection bias.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Document data owner, collection date, units, definitions, sampling method and known limitations.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31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31CCDD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Before collecting: define the question, required fields, population and permission to use the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31CCDD"/>
                </a:solidFill>
                <a:latin typeface="Aptos"/>
              </a:defRPr>
            </a:pPr>
            <a:r>
              <a:t>MODULE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Understanding 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31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A row should represent a clearly defined entity or event; columns should have consistent meanings.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Create a data dictionary describing each field, type, unit, allowed range and missing-value convention.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Unique identifiers help detect repeated entities and link datasets.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Distinguish categorical, numeric, ordinal, date/time, text and geographic fields.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Check whether records cover the right time period and whether important groups are underrepresented.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Use validation rules at collection time to prevent avoidable quality problems.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31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31CCDD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Example data dictionary: attendance_pct = numeric, unit %, valid range 0–100.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31CCDD"/>
                </a:solidFill>
                <a:latin typeface="Aptos"/>
              </a:defRPr>
            </a:pPr>
            <a:r>
              <a:t>MODULE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Missing Values and Duplicates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31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Find missing values with isna()/isnull(); count them per column and row.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Investigate why values are missing before choosing a treatment.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Options: remove records, fill with mean/median/mode, use a domain rule or add a missingness indicator.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Mean imputation can be distorted by outliers; median is often more robust for skewed numeric data.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Detect exact and key-based duplicates; decide which record is authoritative before removing any.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Document how many values/records were changed and why.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31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31CCDD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Consolas"/>
              </a:defRPr>
            </a:pPr>
            <a:r>
              <a:t>Pandas:</a:t>
            </a:r>
            <a:br/>
            <a:r>
              <a:t>print(df.isna().sum())</a:t>
            </a:r>
            <a:br/>
            <a:r>
              <a:t>print(df.duplicated().sum())</a:t>
            </a:r>
            <a:br/>
            <a:r>
              <a:t>df = df.drop_duplicates()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31CCDD"/>
                </a:solidFill>
                <a:latin typeface="Aptos"/>
              </a:defRPr>
            </a:pPr>
            <a:r>
              <a:t>MODULE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Outliers, Errors and Inconsistent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31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Validate impossible values such as negative age, marks above the maximum or dates in the future.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Standardize text categories: 'NY', 'New York' and 'new york' may refer to the same category.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Normalize units before comparing measurements, such as centimeters versus meters.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Outliers can indicate entry errors, unusual events or valid rare cases; investigate before deleting.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Use range checks, box plots, robust statistics and domain knowledge to flag suspicious values.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Correct errors from trustworthy sources; do not silently replace values without a reason.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31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31CCDD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Quality checks should distinguish a true unusual observation from a data-entry mistake.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31CCDD"/>
                </a:solidFill>
                <a:latin typeface="Aptos"/>
              </a:defRPr>
            </a:pPr>
            <a:r>
              <a:t>MODULE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Transformation and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31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Convert columns to appropriate data types and parse dates before analysis.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Encode categorical variables using one-hot, ordinal or other suitable encoding.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Scale numeric features with standardization or min-max scaling when the algorithm benefits from it.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Feature engineering derives useful inputs, such as age from birth date or total spend from item prices.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Combine tables with joins; validate keys, unmatched rows and row counts after merging.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Text processing may include normalization, tokenization and removal of irrelevant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31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31CCDD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Example: order_value = quantity × unit_price; verify units and currency first.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1">
                <a:solidFill>
                  <a:srgbClr val="31CCDD"/>
                </a:solidFill>
                <a:latin typeface="Aptos"/>
              </a:defRPr>
            </a:pPr>
            <a:r>
              <a:t>MODULE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6692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500" b="1">
                <a:solidFill>
                  <a:srgbClr val="F7F9FD"/>
                </a:solidFill>
                <a:latin typeface="Aptos"/>
              </a:defRPr>
            </a:pPr>
            <a:r>
              <a:t>Preprocessing Pipeline and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9C7DC"/>
                </a:solidFill>
                <a:latin typeface="Aptos"/>
              </a:defRPr>
            </a:pPr>
            <a:r>
              <a:t>Key concepts • practical context • quick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640080" cy="45720"/>
          </a:xfrm>
          <a:prstGeom prst="rect">
            <a:avLst/>
          </a:prstGeom>
          <a:solidFill>
            <a:srgbClr val="31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720840" cy="4343400"/>
          </a:xfrm>
          <a:prstGeom prst="rect">
            <a:avLst/>
          </a:prstGeom>
          <a:noFill/>
        </p:spPr>
        <p:txBody>
          <a:bodyPr wrap="square" lIns="73152" tIns="36576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Split data into training, validation and test sets according to the task and time structure.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Fit imputation, scaling and feature selection only on training data; apply learned settings to other sets.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Data leakage occurs when training uses information unavailable at prediction time.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For time-series prediction, do not randomly mix future observations into training if it violates chronology.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Automated pipelines make preprocessing consistent and easier to reproduce.</a:t>
            </a:r>
          </a:p>
          <a:p>
            <a:pPr>
              <a:spcAft>
                <a:spcPts val="900"/>
              </a:spcAft>
              <a:defRPr sz="1500">
                <a:solidFill>
                  <a:srgbClr val="F7F9FD"/>
                </a:solidFill>
                <a:latin typeface="Aptos"/>
              </a:defRPr>
            </a:pPr>
            <a:r>
              <a:t>•  After preprocessing, re-check shapes, types, missing values, ranges and target distribution.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901952"/>
            <a:ext cx="3840480" cy="3794760"/>
          </a:xfrm>
          <a:prstGeom prst="roundRect">
            <a:avLst/>
          </a:prstGeom>
          <a:solidFill>
            <a:srgbClr val="1B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901952"/>
            <a:ext cx="91440" cy="3794760"/>
          </a:xfrm>
          <a:prstGeom prst="roundRect">
            <a:avLst/>
          </a:prstGeom>
          <a:solidFill>
            <a:srgbClr val="31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103120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1">
                <a:solidFill>
                  <a:srgbClr val="31CCDD"/>
                </a:solidFill>
                <a:latin typeface="Aptos"/>
              </a:defRPr>
            </a:pPr>
            <a:r>
              <a:t>EXAMPLE /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78608"/>
            <a:ext cx="3154680" cy="2880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300" b="0">
                <a:solidFill>
                  <a:srgbClr val="F7F9FD"/>
                </a:solidFill>
                <a:latin typeface="Aptos"/>
              </a:defRPr>
            </a:pPr>
            <a:r>
              <a:t>Rule: the test set is for final evaluation—not repeated model selection.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1">
                <a:solidFill>
                  <a:srgbClr val="B9C7DC"/>
                </a:solidFill>
                <a:latin typeface="Aptos"/>
              </a:defRPr>
            </a:pPr>
            <a:r>
              <a:t>DATA SCIENCE • MODULE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900" b="1">
                <a:solidFill>
                  <a:srgbClr val="B9C7DC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