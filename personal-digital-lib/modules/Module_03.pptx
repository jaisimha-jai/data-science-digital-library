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548640"/>
            <a:ext cx="2011680" cy="2011680"/>
          </a:xfrm>
          <a:prstGeom prst="ellipse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057400"/>
            <a:ext cx="1234440" cy="1234440"/>
          </a:xfrm>
          <a:prstGeom prst="ellipse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291840"/>
            <a:ext cx="868680" cy="868680"/>
          </a:xfrm>
          <a:prstGeom prst="ellipse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4114800"/>
            <a:ext cx="640080" cy="640080"/>
          </a:xfrm>
          <a:prstGeom prst="ellipse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73152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2ACA97"/>
                </a:solidFill>
                <a:latin typeface="Aptos"/>
              </a:defRPr>
            </a:pPr>
            <a:r>
              <a:t>DATA SCIENCE • 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498079" cy="1371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3200" b="1">
                <a:solidFill>
                  <a:srgbClr val="F7F9FD"/>
                </a:solidFill>
                <a:latin typeface="Aptos"/>
              </a:defRPr>
            </a:pPr>
            <a:r>
              <a:t>Exploratory Data Analysis &amp;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80360"/>
            <a:ext cx="7040880" cy="7772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0">
                <a:solidFill>
                  <a:srgbClr val="B9C7DC"/>
                </a:solidFill>
                <a:latin typeface="Aptos"/>
              </a:defRPr>
            </a:pPr>
            <a:r>
              <a:t>Detailed compact notes with concepts, methods, examples and practical reminders.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709160"/>
            <a:ext cx="713232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500" b="1">
                <a:solidFill>
                  <a:srgbClr val="F7F9FD"/>
                </a:solidFill>
                <a:latin typeface="Aptos"/>
              </a:defRPr>
            </a:pPr>
            <a:r>
              <a:t>6 topic slides + cover = 7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2ACA97"/>
                </a:solidFill>
                <a:latin typeface="Aptos"/>
              </a:defRPr>
            </a:pPr>
            <a:r>
              <a:t>MODULE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Purpose and First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EDA summarizes data and helps discover structure, errors, unusual observations and candidate relationships.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Inspect shape, column names, types, unique counts, missing values and duplicate records.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Ask: what does one row represent, how was the data sampled, and what is the target question?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Use head()/sample() for records, info() for types and describe() for numeric summaries.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Check categorical frequencies and whether groups have very different sample sizes.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EDA generates hypotheses; validate them rather than treating every pattern as a proven fact.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2ACA97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Pandas: print(df.shape); print(df.info()); print(df.describe(include='all'))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2ACA97"/>
                </a:solidFill>
                <a:latin typeface="Aptos"/>
              </a:defRPr>
            </a:pPr>
            <a:r>
              <a:t>MODULE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Measures of Central Tendency and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Mean = sum of values divided by count; it uses every value but is sensitive to extremes.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Median is the middle sorted value and is often useful for skewed distributions.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Mode is the most frequent value and works for categorical data too.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Range = maximum − minimum; variance and standard deviation describe dispersion.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Quartiles divide sorted data into four parts; IQR = Q3 − Q1.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Compare mean and median, spread and sample size to understand a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2ACA97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Example: incomes often have a high mean relative to median because a few values are very large.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2ACA97"/>
                </a:solidFill>
                <a:latin typeface="Aptos"/>
              </a:defRPr>
            </a:pPr>
            <a:r>
              <a:t>MODULE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Distribution, Skewness and 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Histograms reveal shape, concentration, gaps, multiple peaks and skewness.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Right skew has a long tail toward larger values; left skew has a tail toward smaller values.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Box plots summarize median, quartiles and potential outliers.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The 1.5 × IQR rule flags values beyond Q1 − 1.5×IQR or Q3 + 1.5×IQR.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An outlier flag is a prompt for investigation, not proof that a record is wrong.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Consider transformations or robust summaries when distributions are strongly skewed.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2ACA97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Always inspect context before removing a point flagged as an outlier.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2ACA97"/>
                </a:solidFill>
                <a:latin typeface="Aptos"/>
              </a:defRPr>
            </a:pPr>
            <a:r>
              <a:t>MODULE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Choosing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Bar chart: compare counts or values across categories; sort bars when helpful.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Histogram: show a numeric distribution; adjust bins to reveal meaningful structure.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Box/violin plot: compare distributions across groups.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Scatter plot: inspect relationships between two numeric variables; add transparency for dense data.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Line chart: show time trends; maintain chronological order and consistent intervals.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Heatmap: compare a matrix, such as correlations, while labeling the scale clearly.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2ACA97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Match the chart to the analytical question and data type.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2ACA97"/>
                </a:solidFill>
                <a:latin typeface="Aptos"/>
              </a:defRPr>
            </a:pPr>
            <a:r>
              <a:t>MODULE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Relationships and Group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Scatter plots can reveal positive, negative, nonlinear or weak associations.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Correlation summarizes linear association for numeric variables; it can miss nonlinear relationships.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Correlation does not establish causation—confounding variables or reverse causality may explain a pattern.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Group-by summaries compare means, medians, counts or rates across categories.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Check sample size, uncertainty and potential confounders before interpreting group differences.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Investigate surprising results and validate against source records and domain knowledge.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2ACA97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A relationship between ice-cream sales and heat may be driven by temperature, not causation by sales.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2ACA97"/>
                </a:solidFill>
                <a:latin typeface="Aptos"/>
              </a:defRPr>
            </a:pPr>
            <a:r>
              <a:t>MODULE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Communicating EDA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Use a direct title that states the insight, not just 'Chart 1'.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Label axes, units, time periods and categories; use readable fonts and consistent scales.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Avoid 3D effects, truncated axes that mislead, clutter and unnecessary decoration.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Report sample size, missingness and key limitations alongside findings.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Separate observed facts from interpretations and recommendations.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Save code and record data versions so results can be reproduced.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2ACA97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A good insight connects evidence to the question and clearly states uncertainty.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