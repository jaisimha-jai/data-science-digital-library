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548640"/>
            <a:ext cx="2011680" cy="2011680"/>
          </a:xfrm>
          <a:prstGeom prst="ellipse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057400"/>
            <a:ext cx="1234440" cy="1234440"/>
          </a:xfrm>
          <a:prstGeom prst="ellipse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291840"/>
            <a:ext cx="868680" cy="868680"/>
          </a:xfrm>
          <a:prstGeom prst="ellipse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4114800"/>
            <a:ext cx="640080" cy="640080"/>
          </a:xfrm>
          <a:prstGeom prst="ellipse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7315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FA452"/>
                </a:solidFill>
                <a:latin typeface="Aptos"/>
              </a:defRPr>
            </a:pPr>
            <a:r>
              <a:t>DATA SCIENCE • 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498079" cy="1371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3200" b="1">
                <a:solidFill>
                  <a:srgbClr val="F7F9FD"/>
                </a:solidFill>
                <a:latin typeface="Aptos"/>
              </a:defRPr>
            </a:pPr>
            <a:r>
              <a:t>Statistics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80360"/>
            <a:ext cx="7040880" cy="7772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0">
                <a:solidFill>
                  <a:srgbClr val="B9C7DC"/>
                </a:solidFill>
                <a:latin typeface="Aptos"/>
              </a:defRPr>
            </a:pPr>
            <a:r>
              <a:t>Detailed compact notes with concepts, methods, examples and practical reminders.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713232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500" b="1">
                <a:solidFill>
                  <a:srgbClr val="F7F9FD"/>
                </a:solidFill>
                <a:latin typeface="Aptos"/>
              </a:defRPr>
            </a:pPr>
            <a:r>
              <a:t>6 topic slides + cover = 7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FA452"/>
                </a:solidFill>
                <a:latin typeface="Aptos"/>
              </a:defRPr>
            </a:pPr>
            <a: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Descriptive Statistics and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Descriptive statistics summarize the observed sample; inferential statistics estimate or test population claims.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Mean, median and mode describe central tendency; variance, standard deviation and IQR describe spread.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Probability ranges from 0 to 1; complementary event probability is 1 − P(A).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Conditional probability describes P(A given B); independence means one event does not change the other's probability.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Sampling methods and sample size affect how well results generalize to a population.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Selection bias can invalidate conclusions even when the sample is large.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FA452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Use a representative sampling method before relying on statistical conclusions.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FA452"/>
                </a:solidFill>
                <a:latin typeface="Aptos"/>
              </a:defRPr>
            </a:pPr>
            <a: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Distributions and Statistical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Normal distributions are symmetric and described by mean and standard deviation.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Binomial models count successes across a fixed number of independent trials with constant success probability.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Sampling distributions describe how an estimator varies across repeated samples.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Confidence intervals provide a range of plausible values under the method's assumptions.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Hypothesis tests compare data with a null model; interpret p-values with effect size and context.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Statistical significance does not automatically imply practical importance or causation.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FA452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Report estimate, uncertainty, sample size and assumptions—not only a p-value.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FA452"/>
                </a:solidFill>
                <a:latin typeface="Aptos"/>
              </a:defRPr>
            </a:pPr>
            <a: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Machine Learning Problem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Supervised learning trains from labeled examples: regression predicts numeric values; classification predicts categories.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Unsupervised learning finds structure without target labels, such as clusters or reduced representations.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Reinforcement learning learns a policy through actions, feedback and rewards.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Common applications: price forecasting, spam detection, customer segmentation and anomaly detection.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Choose a model based on target, data size, interpretability, latency and error costs.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Start with a simple baseline and compare more complex methods against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FA452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Regression: predict a number. Classification: predict a class. Clustering: discover groups.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FA452"/>
                </a:solidFill>
                <a:latin typeface="Aptos"/>
              </a:defRPr>
            </a:pPr>
            <a: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Training, Validation and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Training data estimates model parameters; validation data supports tuning; test data estimates final generalization.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Overfitting occurs when a model learns noise or specifics of training examples.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Underfitting occurs when the model is too simple to capture useful patterns.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Cross-validation estimates performance across multiple training/validation splits.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Regularization, simpler models, more representative data and careful feature selection can reduce overfitting.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Keep preprocessing inside a pipeline to avoid leakage across data splits.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FA452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Never use the final test set repeatedly to choose model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FA452"/>
                </a:solidFill>
                <a:latin typeface="Aptos"/>
              </a:defRPr>
            </a:pPr>
            <a: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Regression: MAE is average absolute error; RMSE penalizes large errors more strongly.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Classification: accuracy is correct predictions divided by all predictions.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Precision = true positives / predicted positives; recall = true positives / actual positives.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F1 combines precision and recall; a confusion matrix shows types of classification errors.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With imbalanced classes, accuracy may look high while minority-class detection is poor.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Choose metrics based on the cost of false positives, false negatives and prediction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FA452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For disease screening, missing a true case may cost more than producing a false alarm.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FFA452"/>
                </a:solidFill>
                <a:latin typeface="Aptos"/>
              </a:defRPr>
            </a:pPr>
            <a:r>
              <a:t>MODULE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Model Selection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Compare against a baseline and use validation results to choose models.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Inspect performance across relevant subgroups to detect uneven errors or bias.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Check data quality, target definition and representativeness before interpreting a score.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Explain limitations, uncertainty and the intended scope of use to stakeholders.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Use human review where errors can have significant consequences.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Monitor real-world performance because data and user behavior can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FFA452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Best model means best for the real objective and constraints—not necessarily the most complex.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